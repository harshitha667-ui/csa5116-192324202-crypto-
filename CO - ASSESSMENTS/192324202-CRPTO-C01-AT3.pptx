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78" r:id="rId4"/>
    <p:sldId id="280" r:id="rId5"/>
    <p:sldId id="261" r:id="rId6"/>
    <p:sldId id="260" r:id="rId7"/>
    <p:sldId id="263" r:id="rId8"/>
    <p:sldId id="265" r:id="rId9"/>
    <p:sldId id="268" r:id="rId10"/>
    <p:sldId id="269" r:id="rId11"/>
    <p:sldId id="277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D37B0-29BE-43DB-8F2B-432A9B24903E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B5DE8D-F264-416A-B840-A045A12A861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B5DE8D-F264-416A-B840-A045A12A8610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41317" y="848690"/>
            <a:ext cx="330936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97176" y="373837"/>
            <a:ext cx="8194675" cy="929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5670" y="1804878"/>
            <a:ext cx="10360659" cy="4142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469318"/>
              </p:ext>
            </p:extLst>
          </p:nvPr>
        </p:nvGraphicFramePr>
        <p:xfrm>
          <a:off x="1600200" y="4343400"/>
          <a:ext cx="9951719" cy="1370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2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5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3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575">
                <a:tc>
                  <a:txBody>
                    <a:bodyPr/>
                    <a:lstStyle/>
                    <a:p>
                      <a:pPr marL="31750">
                        <a:lnSpc>
                          <a:spcPts val="1740"/>
                        </a:lnSpc>
                      </a:pPr>
                      <a:r>
                        <a:rPr lang="en-IN" sz="1600" spc="-10" dirty="0">
                          <a:latin typeface="Times New Roman" panose="02020603050405020304"/>
                          <a:cs typeface="Times New Roman" panose="02020603050405020304"/>
                        </a:rPr>
                        <a:t>                         </a:t>
                      </a: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83310">
                        <a:lnSpc>
                          <a:spcPts val="1740"/>
                        </a:lnSpc>
                      </a:pP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03350">
                        <a:lnSpc>
                          <a:spcPts val="1740"/>
                        </a:lnSpc>
                      </a:pPr>
                      <a:r>
                        <a:rPr sz="1600" spc="-10" dirty="0">
                          <a:latin typeface="Times New Roman" panose="02020603050405020304"/>
                          <a:cs typeface="Times New Roman" panose="02020603050405020304"/>
                        </a:rPr>
                        <a:t>GUIDE:</a:t>
                      </a:r>
                      <a:endParaRPr sz="16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en-IN" sz="1600" dirty="0">
                          <a:latin typeface="Times New Roman" panose="02020603050405020304"/>
                          <a:cs typeface="Times New Roman" panose="02020603050405020304"/>
                        </a:rPr>
                        <a:t>K. HARSHITHA</a:t>
                      </a: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6194" marB="0"/>
                </a:tc>
                <a:tc>
                  <a:txBody>
                    <a:bodyPr/>
                    <a:lstStyle/>
                    <a:p>
                      <a:pPr marL="10833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6194" marB="0"/>
                </a:tc>
                <a:tc>
                  <a:txBody>
                    <a:bodyPr/>
                    <a:lstStyle/>
                    <a:p>
                      <a:pPr marL="140335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lang="en-US" sz="1600" dirty="0" err="1">
                          <a:latin typeface="Times New Roman" panose="02020603050405020304"/>
                          <a:cs typeface="Times New Roman" panose="02020603050405020304"/>
                        </a:rPr>
                        <a:t>Dr.D.SUDHAGAR</a:t>
                      </a: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3619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9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lang="en-US" sz="1600" dirty="0">
                          <a:latin typeface="Times New Roman" panose="02020603050405020304"/>
                          <a:cs typeface="Times New Roman" panose="02020603050405020304"/>
                        </a:rPr>
                        <a:t>192324202</a:t>
                      </a: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108331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75565" marB="0"/>
                </a:tc>
                <a:tc>
                  <a:txBody>
                    <a:bodyPr/>
                    <a:lstStyle/>
                    <a:p>
                      <a:pPr marL="1403350">
                        <a:lnSpc>
                          <a:spcPts val="1835"/>
                        </a:lnSpc>
                      </a:pP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1403350">
                        <a:lnSpc>
                          <a:spcPts val="1850"/>
                        </a:lnSpc>
                        <a:spcBef>
                          <a:spcPts val="695"/>
                        </a:spcBef>
                      </a:pP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7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03350">
                        <a:lnSpc>
                          <a:spcPts val="1675"/>
                        </a:lnSpc>
                      </a:pPr>
                      <a:endParaRPr sz="1600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207892" y="3489897"/>
            <a:ext cx="55467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2000" dirty="0"/>
              <a:t>Department</a:t>
            </a:r>
            <a:r>
              <a:rPr sz="2000" spc="-70" dirty="0"/>
              <a:t> </a:t>
            </a:r>
            <a:r>
              <a:rPr sz="2000" dirty="0"/>
              <a:t>of</a:t>
            </a:r>
            <a:r>
              <a:rPr sz="2000" spc="-35" dirty="0"/>
              <a:t> </a:t>
            </a:r>
            <a:r>
              <a:rPr sz="2000" dirty="0"/>
              <a:t>Computer</a:t>
            </a:r>
            <a:r>
              <a:rPr sz="2000" spc="-75" dirty="0"/>
              <a:t> </a:t>
            </a:r>
            <a:r>
              <a:rPr sz="2000" dirty="0"/>
              <a:t>Science</a:t>
            </a:r>
            <a:r>
              <a:rPr sz="2000" spc="-45" dirty="0"/>
              <a:t> </a:t>
            </a:r>
            <a:r>
              <a:rPr sz="2000" dirty="0"/>
              <a:t>And</a:t>
            </a:r>
            <a:r>
              <a:rPr sz="2000" spc="-45" dirty="0"/>
              <a:t> </a:t>
            </a:r>
            <a:r>
              <a:rPr sz="2000" spc="-10" dirty="0"/>
              <a:t>Engineering</a:t>
            </a:r>
            <a:endParaRPr sz="2000" dirty="0"/>
          </a:p>
        </p:txBody>
      </p:sp>
      <p:sp>
        <p:nvSpPr>
          <p:cNvPr id="4" name="object 4"/>
          <p:cNvSpPr txBox="1"/>
          <p:nvPr/>
        </p:nvSpPr>
        <p:spPr>
          <a:xfrm>
            <a:off x="797431" y="2045626"/>
            <a:ext cx="9951719" cy="1348126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922020" marR="5080" indent="-909955" algn="ctr">
              <a:lnSpc>
                <a:spcPts val="3350"/>
              </a:lnSpc>
              <a:spcBef>
                <a:spcPts val="20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C01-AT3</a:t>
            </a:r>
          </a:p>
          <a:p>
            <a:pPr marL="922020" marR="5080" indent="-909955" algn="ctr">
              <a:lnSpc>
                <a:spcPts val="3350"/>
              </a:lnSpc>
              <a:spcBef>
                <a:spcPts val="200"/>
              </a:spcBef>
            </a:pPr>
            <a:r>
              <a:rPr lang="en-IN" sz="2400" spc="-1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VS TRANSPOSITION TECHNIQUE</a:t>
            </a:r>
          </a:p>
          <a:p>
            <a:pPr marL="922020" marR="5080" indent="-909955" algn="ctr">
              <a:lnSpc>
                <a:spcPts val="3350"/>
              </a:lnSpc>
              <a:spcBef>
                <a:spcPts val="20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CSA5116-CRYPTOGRAPHY AND NETWORK SECURITY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1967" y="304800"/>
            <a:ext cx="5962650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26763" y="489966"/>
            <a:ext cx="28505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2985" y="1451231"/>
            <a:ext cx="10146030" cy="51403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endParaRPr lang="en-I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Classical encryption</a:t>
            </a:r>
            <a:r>
              <a:rPr lang="en-IN" sz="2400" dirty="0"/>
              <a:t> techniques are early methods used to protect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Convert </a:t>
            </a:r>
            <a:r>
              <a:rPr lang="en-IN" sz="2400" b="1" dirty="0"/>
              <a:t>plaintext</a:t>
            </a:r>
            <a:r>
              <a:rPr lang="en-IN" sz="2400" dirty="0"/>
              <a:t> into </a:t>
            </a:r>
            <a:r>
              <a:rPr lang="en-IN" sz="2400" b="1" dirty="0"/>
              <a:t>ciphertext</a:t>
            </a: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Require an encryption key or rule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Two major techniques:</a:t>
            </a:r>
          </a:p>
          <a:p>
            <a:pPr marL="342900" lvl="1" indent="-342900"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accent2"/>
                </a:solidFill>
              </a:rPr>
              <a:t>Substitution</a:t>
            </a:r>
            <a:endParaRPr lang="en-IN" sz="2400" dirty="0">
              <a:solidFill>
                <a:schemeClr val="accent2"/>
              </a:solidFill>
            </a:endParaRPr>
          </a:p>
          <a:p>
            <a:pPr marL="342900" lvl="1" indent="-342900">
              <a:buFont typeface="Wingdings" panose="05000000000000000000" pitchFamily="2" charset="2"/>
              <a:buChar char="ü"/>
            </a:pPr>
            <a:r>
              <a:rPr lang="en-IN" sz="2400" b="1" dirty="0">
                <a:solidFill>
                  <a:schemeClr val="accent2"/>
                </a:solidFill>
              </a:rPr>
              <a:t>Transposition</a:t>
            </a:r>
            <a:endParaRPr lang="en-IN" sz="2400" dirty="0">
              <a:solidFill>
                <a:schemeClr val="accent2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Main goal: prevent unauthorized people from understanding the message</a:t>
            </a:r>
          </a:p>
          <a:p>
            <a:r>
              <a:rPr lang="en-IN" sz="2400" b="1" dirty="0"/>
              <a:t>Example:</a:t>
            </a:r>
            <a:endParaRPr lang="en-IN" sz="2400" dirty="0"/>
          </a:p>
          <a:p>
            <a:r>
              <a:rPr lang="en-IN" sz="2400" dirty="0"/>
              <a:t>Plaintext: HELLO</a:t>
            </a:r>
            <a:br>
              <a:rPr lang="en-IN" sz="2400" dirty="0"/>
            </a:br>
            <a:r>
              <a:rPr lang="en-IN" sz="2400" dirty="0"/>
              <a:t>Ciphertext: KHOOR</a:t>
            </a:r>
          </a:p>
          <a:p>
            <a:pPr marL="355600" marR="5080" indent="-342900" algn="just">
              <a:lnSpc>
                <a:spcPct val="150000"/>
              </a:lnSpc>
              <a:spcBef>
                <a:spcPts val="95"/>
              </a:spcBef>
              <a:buFont typeface="Wingdings" panose="05000000000000000000" pitchFamily="2" charset="2"/>
              <a:buChar char="Ø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44577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58540" y="76514"/>
            <a:ext cx="1520062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44577"/>
            <a:ext cx="1103582" cy="1342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58540" y="76514"/>
            <a:ext cx="1520062" cy="1342897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1143000" y="1447800"/>
            <a:ext cx="8949690" cy="4953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IN" sz="2000" b="1" dirty="0"/>
              <a:t>What is Substitution?</a:t>
            </a:r>
          </a:p>
          <a:p>
            <a:r>
              <a:rPr lang="en-IN" sz="2000" dirty="0"/>
              <a:t>In </a:t>
            </a:r>
            <a:r>
              <a:rPr lang="en-IN" sz="2000" b="1" dirty="0"/>
              <a:t>substitution</a:t>
            </a:r>
            <a:r>
              <a:rPr lang="en-IN" sz="2000" dirty="0"/>
              <a:t>, each character or group of characters is replaced by another character.</a:t>
            </a:r>
          </a:p>
          <a:p>
            <a:r>
              <a:rPr lang="en-IN" sz="2000" b="1" dirty="0"/>
              <a:t>Example – Caesar Cipher:</a:t>
            </a:r>
            <a:endParaRPr lang="en-IN" sz="2000" dirty="0"/>
          </a:p>
          <a:p>
            <a:r>
              <a:rPr lang="en-IN" sz="2000" dirty="0"/>
              <a:t>Plaintext: HELLO</a:t>
            </a:r>
            <a:br>
              <a:rPr lang="en-IN" sz="2000" dirty="0"/>
            </a:br>
            <a:r>
              <a:rPr lang="en-IN" sz="2000" dirty="0"/>
              <a:t>Shift: +3</a:t>
            </a:r>
          </a:p>
          <a:p>
            <a:pPr lvl="0"/>
            <a:r>
              <a:rPr lang="en-IN" sz="2000" dirty="0"/>
              <a:t>H → K</a:t>
            </a:r>
          </a:p>
          <a:p>
            <a:pPr lvl="0"/>
            <a:r>
              <a:rPr lang="en-IN" sz="2000" dirty="0"/>
              <a:t>E → H</a:t>
            </a:r>
          </a:p>
          <a:p>
            <a:pPr lvl="0"/>
            <a:r>
              <a:rPr lang="en-IN" sz="2000" dirty="0"/>
              <a:t>L → O</a:t>
            </a:r>
          </a:p>
          <a:p>
            <a:pPr lvl="0"/>
            <a:r>
              <a:rPr lang="en-IN" sz="2000" dirty="0"/>
              <a:t>L → O</a:t>
            </a:r>
          </a:p>
          <a:p>
            <a:pPr lvl="0"/>
            <a:r>
              <a:rPr lang="en-IN" sz="2000" dirty="0"/>
              <a:t>O → R</a:t>
            </a:r>
          </a:p>
          <a:p>
            <a:r>
              <a:rPr lang="en-IN" sz="2000" dirty="0"/>
              <a:t>Ciphertext: </a:t>
            </a:r>
            <a:r>
              <a:rPr lang="en-IN" sz="2000" b="1" dirty="0"/>
              <a:t>KHOOR</a:t>
            </a:r>
            <a:endParaRPr lang="en-IN" sz="2000" dirty="0"/>
          </a:p>
          <a:p>
            <a:r>
              <a:rPr lang="en-IN" sz="2000" b="1" dirty="0"/>
              <a:t>Key idea:</a:t>
            </a:r>
            <a:br>
              <a:rPr lang="en-IN" sz="2000" dirty="0"/>
            </a:br>
            <a:r>
              <a:rPr lang="en-IN" sz="2000" dirty="0"/>
              <a:t>👉 The </a:t>
            </a:r>
            <a:r>
              <a:rPr lang="en-IN" sz="2000" b="1" dirty="0"/>
              <a:t>characters change</a:t>
            </a:r>
            <a:r>
              <a:rPr lang="en-IN" sz="2000" dirty="0"/>
              <a:t>, but their positions remain the same.</a:t>
            </a:r>
          </a:p>
          <a:p>
            <a:pPr marL="342900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Ø"/>
            </a:pPr>
            <a:endParaRPr lang="en-US" altLang="zh-CN" sz="2400" b="0" i="0" dirty="0">
              <a:solidFill>
                <a:srgbClr val="0A0A0A"/>
              </a:solidFill>
              <a:latin typeface="Times New Roman" panose="02020603050405020304" pitchFamily="18" charset="0"/>
              <a:ea typeface="Roboto Variable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44578"/>
            <a:ext cx="1066800" cy="11090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0" y="76514"/>
            <a:ext cx="1510602" cy="10770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68140E2-F2D4-17D8-3403-179BB3D883D3}"/>
              </a:ext>
            </a:extLst>
          </p:cNvPr>
          <p:cNvSpPr txBox="1"/>
          <p:nvPr/>
        </p:nvSpPr>
        <p:spPr>
          <a:xfrm>
            <a:off x="914400" y="1447800"/>
            <a:ext cx="9982200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</a:t>
            </a:r>
            <a:r>
              <a:rPr lang="en-IN" sz="2400" b="1" dirty="0"/>
              <a:t>What is Transposition?</a:t>
            </a:r>
          </a:p>
          <a:p>
            <a:r>
              <a:rPr lang="en-IN" sz="2400" dirty="0"/>
              <a:t>In </a:t>
            </a:r>
            <a:r>
              <a:rPr lang="en-IN" sz="2400" b="1" dirty="0"/>
              <a:t>transposition</a:t>
            </a:r>
            <a:r>
              <a:rPr lang="en-IN" sz="2400" dirty="0"/>
              <a:t>, the characters are </a:t>
            </a:r>
            <a:r>
              <a:rPr lang="en-IN" sz="2400" b="1" dirty="0"/>
              <a:t>rearranged</a:t>
            </a:r>
            <a:r>
              <a:rPr lang="en-IN" sz="2400" dirty="0"/>
              <a:t> without changing the characters themselves.</a:t>
            </a:r>
          </a:p>
          <a:p>
            <a:r>
              <a:rPr lang="en-IN" sz="2400" b="1" dirty="0"/>
              <a:t>Example:</a:t>
            </a:r>
            <a:endParaRPr lang="en-IN" sz="2400" dirty="0"/>
          </a:p>
          <a:p>
            <a:r>
              <a:rPr lang="en-IN" sz="2400" dirty="0"/>
              <a:t>Plaintext:</a:t>
            </a:r>
          </a:p>
          <a:p>
            <a:r>
              <a:rPr lang="en-IN" sz="2400" dirty="0"/>
              <a:t>HELLO</a:t>
            </a:r>
          </a:p>
          <a:p>
            <a:r>
              <a:rPr lang="en-IN" sz="2400" dirty="0"/>
              <a:t>After rearrangement:</a:t>
            </a:r>
          </a:p>
          <a:p>
            <a:r>
              <a:rPr lang="en-IN" sz="2400" dirty="0"/>
              <a:t>LHOEL</a:t>
            </a:r>
          </a:p>
          <a:p>
            <a:r>
              <a:rPr lang="en-IN" sz="2400" dirty="0"/>
              <a:t>The letters </a:t>
            </a:r>
            <a:r>
              <a:rPr lang="en-IN" sz="2400" b="1" dirty="0"/>
              <a:t>H, E, L, L, O</a:t>
            </a:r>
            <a:r>
              <a:rPr lang="en-IN" sz="2400" dirty="0"/>
              <a:t> are still present.</a:t>
            </a:r>
          </a:p>
          <a:p>
            <a:r>
              <a:rPr lang="en-IN" sz="2400" b="1" dirty="0"/>
              <a:t>Key idea:</a:t>
            </a:r>
            <a:br>
              <a:rPr lang="en-IN" sz="2400" dirty="0"/>
            </a:br>
            <a:r>
              <a:rPr lang="en-IN" sz="2400" dirty="0"/>
              <a:t>👉 The </a:t>
            </a:r>
            <a:r>
              <a:rPr lang="en-IN" sz="2400" b="1" dirty="0"/>
              <a:t>characters remain the same</a:t>
            </a:r>
            <a:r>
              <a:rPr lang="en-IN" sz="2400" dirty="0"/>
              <a:t>, but their </a:t>
            </a:r>
            <a:r>
              <a:rPr lang="en-IN" sz="2400" b="1" dirty="0"/>
              <a:t>positions change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44578"/>
            <a:ext cx="1066800" cy="11090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0" y="76514"/>
            <a:ext cx="1510602" cy="107708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39575C-14BB-E8FD-87B0-833D2F212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216164"/>
              </p:ext>
            </p:extLst>
          </p:nvPr>
        </p:nvGraphicFramePr>
        <p:xfrm>
          <a:off x="915988" y="1905000"/>
          <a:ext cx="10360026" cy="346188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453342">
                  <a:extLst>
                    <a:ext uri="{9D8B030D-6E8A-4147-A177-3AD203B41FA5}">
                      <a16:colId xmlns:a16="http://schemas.microsoft.com/office/drawing/2014/main" val="3046977803"/>
                    </a:ext>
                  </a:extLst>
                </a:gridCol>
                <a:gridCol w="3453342">
                  <a:extLst>
                    <a:ext uri="{9D8B030D-6E8A-4147-A177-3AD203B41FA5}">
                      <a16:colId xmlns:a16="http://schemas.microsoft.com/office/drawing/2014/main" val="4239160319"/>
                    </a:ext>
                  </a:extLst>
                </a:gridCol>
                <a:gridCol w="3453342">
                  <a:extLst>
                    <a:ext uri="{9D8B030D-6E8A-4147-A177-3AD203B41FA5}">
                      <a16:colId xmlns:a16="http://schemas.microsoft.com/office/drawing/2014/main" val="2154492437"/>
                    </a:ext>
                  </a:extLst>
                </a:gridCol>
              </a:tblGrid>
              <a:tr h="429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Substitution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Transposition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4018510"/>
                  </a:ext>
                </a:extLst>
              </a:tr>
              <a:tr h="429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Character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Changed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Not changed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3287159"/>
                  </a:ext>
                </a:extLst>
              </a:tr>
              <a:tr h="429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Character positions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Usually unchanged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Changed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417567"/>
                  </a:ext>
                </a:extLst>
              </a:tr>
              <a:tr h="429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Main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Replacement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Rearrangement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1845475"/>
                  </a:ext>
                </a:extLst>
              </a:tr>
              <a:tr h="429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Caesar Cipher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Rail Fence Cipher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790242"/>
                  </a:ext>
                </a:extLst>
              </a:tr>
              <a:tr h="429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Frequency pattern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Often preserved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Usually preserved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1291972"/>
                  </a:ext>
                </a:extLst>
              </a:tr>
              <a:tr h="429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Main weakness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Frequency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Anagram/pattern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42383"/>
                  </a:ext>
                </a:extLst>
              </a:tr>
              <a:tr h="4292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Moderate in simple forms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Moderate in simple forms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86192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6D115A6-1520-BC1D-FE88-3855AB42D88F}"/>
              </a:ext>
            </a:extLst>
          </p:cNvPr>
          <p:cNvSpPr txBox="1"/>
          <p:nvPr/>
        </p:nvSpPr>
        <p:spPr>
          <a:xfrm>
            <a:off x="3924300" y="883199"/>
            <a:ext cx="434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2"/>
                </a:solidFill>
                <a:latin typeface="Arial Narrow" panose="020B0606020202030204" pitchFamily="34" charset="0"/>
              </a:rPr>
              <a:t>Substitution vs Transposition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22675" y="573989"/>
            <a:ext cx="4149725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IN" dirty="0"/>
              <a:t>Security of Substitution</a:t>
            </a:r>
            <a:br>
              <a:rPr lang="en-IN" dirty="0"/>
            </a:br>
            <a:endParaRPr spc="-10" dirty="0"/>
          </a:p>
        </p:txBody>
      </p:sp>
      <p:pic>
        <p:nvPicPr>
          <p:cNvPr id="6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44578"/>
            <a:ext cx="1066800" cy="1109022"/>
          </a:xfrm>
          <a:prstGeom prst="rect">
            <a:avLst/>
          </a:prstGeom>
        </p:spPr>
      </p:pic>
      <p:pic>
        <p:nvPicPr>
          <p:cNvPr id="7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0" y="76514"/>
            <a:ext cx="1510602" cy="10770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EE06F6-3543-4316-ED6C-997960448018}"/>
              </a:ext>
            </a:extLst>
          </p:cNvPr>
          <p:cNvSpPr txBox="1"/>
          <p:nvPr/>
        </p:nvSpPr>
        <p:spPr>
          <a:xfrm>
            <a:off x="1524000" y="1600200"/>
            <a:ext cx="9753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  <a:p>
            <a:r>
              <a:rPr lang="en-IN" sz="2400" b="1" dirty="0"/>
              <a:t>Advantages:</a:t>
            </a:r>
            <a:endParaRPr lang="en-IN" sz="2400" dirty="0"/>
          </a:p>
          <a:p>
            <a:pPr lvl="0"/>
            <a:r>
              <a:rPr lang="en-IN" dirty="0"/>
              <a:t>Hides the original characters</a:t>
            </a:r>
          </a:p>
          <a:p>
            <a:pPr lvl="0"/>
            <a:r>
              <a:rPr lang="en-IN" dirty="0"/>
              <a:t>More difficult than plaintext to read directly</a:t>
            </a:r>
          </a:p>
          <a:p>
            <a:pPr lvl="0"/>
            <a:r>
              <a:rPr lang="en-IN" dirty="0"/>
              <a:t>Stronger substitution systems can use large key spaces</a:t>
            </a:r>
          </a:p>
          <a:p>
            <a:r>
              <a:rPr lang="en-IN" sz="2400" b="1" dirty="0"/>
              <a:t>Weaknesses</a:t>
            </a:r>
            <a:r>
              <a:rPr lang="en-IN" b="1" dirty="0"/>
              <a:t>:</a:t>
            </a:r>
            <a:endParaRPr lang="en-IN" dirty="0"/>
          </a:p>
          <a:p>
            <a:pPr lvl="0"/>
            <a:r>
              <a:rPr lang="en-IN" dirty="0"/>
              <a:t>Simple substitution preserves </a:t>
            </a:r>
            <a:r>
              <a:rPr lang="en-IN" b="1" dirty="0"/>
              <a:t>letter frequency</a:t>
            </a:r>
            <a:endParaRPr lang="en-IN" dirty="0"/>
          </a:p>
          <a:p>
            <a:pPr lvl="0"/>
            <a:r>
              <a:rPr lang="en-IN" dirty="0"/>
              <a:t>Common letters can be identified</a:t>
            </a:r>
          </a:p>
          <a:p>
            <a:pPr lvl="0"/>
            <a:r>
              <a:rPr lang="en-IN" dirty="0"/>
              <a:t>Vulnerable to </a:t>
            </a:r>
            <a:r>
              <a:rPr lang="en-IN" b="1" dirty="0"/>
              <a:t>frequency analysis</a:t>
            </a:r>
            <a:endParaRPr lang="en-IN" dirty="0"/>
          </a:p>
          <a:p>
            <a:pPr lvl="0"/>
            <a:r>
              <a:rPr lang="en-IN" dirty="0"/>
              <a:t>Caesar cipher has only </a:t>
            </a:r>
            <a:r>
              <a:rPr lang="en-IN" b="1" dirty="0"/>
              <a:t>25 possible shifts</a:t>
            </a:r>
            <a:endParaRPr lang="en-IN" dirty="0"/>
          </a:p>
          <a:p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If E occurs most frequently in plaintext, its substituted character may also occur most frequently in ciphertext.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97176" y="373837"/>
            <a:ext cx="8194675" cy="1145364"/>
          </a:xfrm>
          <a:prstGeom prst="rect">
            <a:avLst/>
          </a:prstGeom>
        </p:spPr>
        <p:txBody>
          <a:bodyPr vert="horz" wrap="square" lIns="0" tIns="280847" rIns="0" bIns="0" rtlCol="0">
            <a:spAutoFit/>
          </a:bodyPr>
          <a:lstStyle/>
          <a:p>
            <a:pPr marL="2554605">
              <a:spcBef>
                <a:spcPts val="95"/>
              </a:spcBef>
            </a:pPr>
            <a:r>
              <a:rPr lang="en-IN" dirty="0"/>
              <a:t>Security of Transposition</a:t>
            </a:r>
            <a:br>
              <a:rPr lang="en-IN" dirty="0"/>
            </a:b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679101" y="1251835"/>
            <a:ext cx="10316845" cy="4740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000" b="1" dirty="0"/>
              <a:t>Security of Transposition</a:t>
            </a:r>
          </a:p>
          <a:p>
            <a:r>
              <a:rPr lang="en-IN" sz="2000" b="1" dirty="0"/>
              <a:t>Advantages:</a:t>
            </a:r>
            <a:endParaRPr lang="en-IN" sz="2000" dirty="0"/>
          </a:p>
          <a:p>
            <a:pPr lvl="0"/>
            <a:r>
              <a:rPr lang="en-IN" sz="2000" dirty="0"/>
              <a:t>Changes the positions of characters</a:t>
            </a:r>
          </a:p>
          <a:p>
            <a:pPr lvl="0"/>
            <a:r>
              <a:rPr lang="en-IN" sz="2000" dirty="0"/>
              <a:t>Makes the original word order difficult to recognize</a:t>
            </a:r>
          </a:p>
          <a:p>
            <a:pPr lvl="0"/>
            <a:r>
              <a:rPr lang="en-IN" sz="2000" dirty="0"/>
              <a:t>Does not directly reveal plaintext through simple substitution patterns</a:t>
            </a:r>
          </a:p>
          <a:p>
            <a:r>
              <a:rPr lang="en-IN" sz="2000" b="1" dirty="0"/>
              <a:t>Weaknesses:</a:t>
            </a:r>
            <a:endParaRPr lang="en-IN" sz="2000" dirty="0"/>
          </a:p>
          <a:p>
            <a:pPr lvl="0"/>
            <a:r>
              <a:rPr lang="en-IN" sz="2000" dirty="0"/>
              <a:t>Letter frequencies remain unchanged</a:t>
            </a:r>
          </a:p>
          <a:p>
            <a:pPr lvl="0"/>
            <a:r>
              <a:rPr lang="en-IN" sz="2000" dirty="0"/>
              <a:t>Repeated patterns may still provide clues</a:t>
            </a:r>
          </a:p>
          <a:p>
            <a:pPr lvl="0"/>
            <a:r>
              <a:rPr lang="en-IN" sz="2000" dirty="0"/>
              <a:t>Short keys can be attacked by trying possible arrangements</a:t>
            </a:r>
          </a:p>
          <a:p>
            <a:pPr lvl="0"/>
            <a:r>
              <a:rPr lang="en-IN" sz="2000" dirty="0"/>
              <a:t>Vulnerable to </a:t>
            </a:r>
            <a:r>
              <a:rPr lang="en-IN" sz="2000" b="1" dirty="0"/>
              <a:t>anagram and pattern-based attacks</a:t>
            </a:r>
            <a:endParaRPr lang="en-IN" sz="2000" dirty="0"/>
          </a:p>
          <a:p>
            <a:r>
              <a:rPr lang="en-IN" sz="2000" b="1" dirty="0"/>
              <a:t>Example:</a:t>
            </a:r>
            <a:endParaRPr lang="en-IN" sz="2000" dirty="0"/>
          </a:p>
          <a:p>
            <a:r>
              <a:rPr lang="en-IN" sz="2000" dirty="0"/>
              <a:t>ATTACKATDAWN</a:t>
            </a:r>
            <a:br>
              <a:rPr lang="en-IN" sz="2000" dirty="0"/>
            </a:br>
            <a:r>
              <a:rPr lang="en-IN" sz="2000" dirty="0"/>
              <a:t>→ characters are rearranged</a:t>
            </a:r>
            <a:br>
              <a:rPr lang="en-IN" sz="2000" dirty="0"/>
            </a:br>
            <a:r>
              <a:rPr lang="en-IN" sz="2000" dirty="0"/>
              <a:t>→ original letters remain present.</a:t>
            </a:r>
          </a:p>
          <a:p>
            <a:pPr marL="354965" marR="6350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/>
              <a:buChar char=""/>
              <a:tabLst>
                <a:tab pos="354965" algn="l"/>
                <a:tab pos="1545590" algn="l"/>
                <a:tab pos="2733040" algn="l"/>
                <a:tab pos="3426460" algn="l"/>
                <a:tab pos="5645785" algn="l"/>
                <a:tab pos="6270625" algn="l"/>
                <a:tab pos="7245350" algn="l"/>
                <a:tab pos="7995920" algn="l"/>
                <a:tab pos="9100820" algn="l"/>
                <a:tab pos="10160635" algn="l"/>
              </a:tabLst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44578"/>
            <a:ext cx="1066800" cy="11090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0" y="76514"/>
            <a:ext cx="1510602" cy="10770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21757" y="599089"/>
            <a:ext cx="8194675" cy="950567"/>
          </a:xfrm>
          <a:prstGeom prst="rect">
            <a:avLst/>
          </a:prstGeom>
        </p:spPr>
        <p:txBody>
          <a:bodyPr vert="horz" wrap="square" lIns="0" tIns="87934" rIns="0" bIns="0" rtlCol="0">
            <a:spAutoFit/>
          </a:bodyPr>
          <a:lstStyle/>
          <a:p>
            <a:pPr marL="1216025">
              <a:spcBef>
                <a:spcPts val="95"/>
              </a:spcBef>
            </a:pPr>
            <a:r>
              <a:rPr lang="en-IN" spc="-10" dirty="0"/>
              <a:t>      </a:t>
            </a:r>
            <a:r>
              <a:rPr lang="en-IN" dirty="0"/>
              <a:t>Which Provides Better Security?</a:t>
            </a:r>
            <a:br>
              <a:rPr lang="en-IN" dirty="0"/>
            </a:b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44578"/>
            <a:ext cx="1066800" cy="11090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0" y="76514"/>
            <a:ext cx="1510602" cy="10770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F5DCAA-2502-D453-351B-D25B1ECD1209}"/>
              </a:ext>
            </a:extLst>
          </p:cNvPr>
          <p:cNvSpPr txBox="1"/>
          <p:nvPr/>
        </p:nvSpPr>
        <p:spPr>
          <a:xfrm>
            <a:off x="838200" y="1517701"/>
            <a:ext cx="9677400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/>
          </a:p>
          <a:p>
            <a:pPr>
              <a:lnSpc>
                <a:spcPct val="150000"/>
              </a:lnSpc>
            </a:pPr>
            <a:r>
              <a:rPr lang="en-IN" sz="2000" b="1" dirty="0"/>
              <a:t>Transposition vs Simple Substitution</a:t>
            </a:r>
          </a:p>
          <a:p>
            <a:pPr>
              <a:lnSpc>
                <a:spcPct val="150000"/>
              </a:lnSpc>
            </a:pPr>
            <a:r>
              <a:rPr lang="en-IN" dirty="0"/>
              <a:t>For </a:t>
            </a:r>
            <a:r>
              <a:rPr lang="en-IN" b="1" dirty="0"/>
              <a:t>basic classical ciphers</a:t>
            </a:r>
            <a:r>
              <a:rPr lang="en-IN" dirty="0"/>
              <a:t>, neither is completely secure.</a:t>
            </a:r>
          </a:p>
          <a:p>
            <a:pPr>
              <a:lnSpc>
                <a:spcPct val="150000"/>
              </a:lnSpc>
            </a:pPr>
            <a:r>
              <a:rPr lang="en-IN" dirty="0"/>
              <a:t>However:</a:t>
            </a:r>
          </a:p>
          <a:p>
            <a:pPr>
              <a:lnSpc>
                <a:spcPct val="150000"/>
              </a:lnSpc>
            </a:pPr>
            <a:r>
              <a:rPr lang="en-IN" b="1" dirty="0"/>
              <a:t>Transposition can provide better protection against direct character-frequency interpretation</a:t>
            </a:r>
            <a:r>
              <a:rPr lang="en-IN" dirty="0"/>
              <a:t>, because the characters themselves are not simply mapped one-to-one.</a:t>
            </a:r>
          </a:p>
          <a:p>
            <a:pPr>
              <a:lnSpc>
                <a:spcPct val="150000"/>
              </a:lnSpc>
            </a:pPr>
            <a:r>
              <a:rPr lang="en-IN" dirty="0"/>
              <a:t>But transposition still preserves letter frequencies.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Most importantly: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b="1" dirty="0"/>
              <a:t>Combining substitution and transposition provides stronger security than using either technique alone.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This principle influenced the design of many modern encryption systems.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46262" y="553621"/>
            <a:ext cx="8194675" cy="8739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dirty="0"/>
              <a:t>Why Combination is Better ?</a:t>
            </a:r>
            <a:br>
              <a:rPr lang="en-IN" dirty="0"/>
            </a:br>
            <a:endParaRPr lang="en-IN" dirty="0"/>
          </a:p>
        </p:txBody>
      </p:sp>
      <p:sp>
        <p:nvSpPr>
          <p:cNvPr id="3" name="object 3"/>
          <p:cNvSpPr txBox="1"/>
          <p:nvPr/>
        </p:nvSpPr>
        <p:spPr>
          <a:xfrm>
            <a:off x="1447800" y="1371600"/>
            <a:ext cx="8194676" cy="64720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endParaRPr lang="en-IN" sz="2000" b="1" dirty="0"/>
          </a:p>
          <a:p>
            <a:r>
              <a:rPr lang="en-IN" sz="2000" dirty="0"/>
              <a:t>Using both techniques creates </a:t>
            </a:r>
            <a:r>
              <a:rPr lang="en-IN" sz="2000" b="1" dirty="0"/>
              <a:t>multiple layers of transformation</a:t>
            </a:r>
            <a:r>
              <a:rPr lang="en-IN" sz="2000" dirty="0"/>
              <a:t>.</a:t>
            </a:r>
          </a:p>
          <a:p>
            <a:r>
              <a:rPr lang="en-IN" sz="2000" b="1" dirty="0"/>
              <a:t>Step 1 – Substitution</a:t>
            </a:r>
            <a:endParaRPr lang="en-IN" sz="2000" dirty="0"/>
          </a:p>
          <a:p>
            <a:r>
              <a:rPr lang="en-IN" sz="2000" dirty="0"/>
              <a:t>HELLOWORLD</a:t>
            </a:r>
            <a:br>
              <a:rPr lang="en-IN" sz="2000" dirty="0"/>
            </a:br>
            <a:r>
              <a:rPr lang="en-IN" sz="2000" dirty="0"/>
              <a:t>           ↓</a:t>
            </a:r>
            <a:br>
              <a:rPr lang="en-IN" sz="2000" dirty="0"/>
            </a:br>
            <a:r>
              <a:rPr lang="en-IN" sz="2000" dirty="0"/>
              <a:t>Characters are replaced</a:t>
            </a:r>
          </a:p>
          <a:p>
            <a:r>
              <a:rPr lang="en-IN" sz="2000" b="1" dirty="0"/>
              <a:t>Step 2 – Transposition</a:t>
            </a:r>
            <a:endParaRPr lang="en-IN" sz="2000" dirty="0"/>
          </a:p>
          <a:p>
            <a:r>
              <a:rPr lang="en-IN" sz="2000" dirty="0"/>
              <a:t>The resulting characters are rearranged.</a:t>
            </a:r>
          </a:p>
          <a:p>
            <a:r>
              <a:rPr lang="en-IN" sz="2000" b="1" dirty="0"/>
              <a:t>Result:</a:t>
            </a:r>
            <a:endParaRPr lang="en-IN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Character values are changed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Character positions are changed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Attacker must solve both transformations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Makes cryptanalysis more difficult</a:t>
            </a:r>
          </a:p>
          <a:p>
            <a:r>
              <a:rPr lang="en-IN" sz="2000" b="1" dirty="0"/>
              <a:t>Therefore:</a:t>
            </a:r>
            <a:br>
              <a:rPr lang="en-IN" sz="2000" dirty="0"/>
            </a:br>
            <a:r>
              <a:rPr lang="en-IN" sz="2000" b="1" dirty="0"/>
              <a:t>Substitution + Transposition &gt; Either technique alone</a:t>
            </a:r>
            <a:endParaRPr lang="en-IN" sz="2000" dirty="0"/>
          </a:p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 rtl="0">
              <a:lnSpc>
                <a:spcPct val="150000"/>
              </a:lnSpc>
              <a:spcBef>
                <a:spcPts val="100"/>
              </a:spcBef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endParaRPr lang="en-IN" sz="2000" dirty="0"/>
          </a:p>
          <a:p>
            <a:pPr marL="12700" marR="5080" algn="just">
              <a:lnSpc>
                <a:spcPct val="150000"/>
              </a:lnSpc>
              <a:spcBef>
                <a:spcPts val="100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44578"/>
            <a:ext cx="1066800" cy="11090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000" y="76514"/>
            <a:ext cx="1510602" cy="1077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14800" y="615056"/>
            <a:ext cx="2851024" cy="13048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IN" dirty="0"/>
              <a:t>Conclusion</a:t>
            </a:r>
            <a:br>
              <a:rPr lang="en-IN" dirty="0"/>
            </a:br>
            <a:br>
              <a:rPr lang="en-IN" dirty="0"/>
            </a:b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01700" y="1564995"/>
            <a:ext cx="10697210" cy="36636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Substitution:</a:t>
            </a:r>
            <a:r>
              <a:rPr lang="en-IN" sz="2000" dirty="0"/>
              <a:t> replaces characters.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Transposition:</a:t>
            </a:r>
            <a:r>
              <a:rPr lang="en-IN" sz="2000" dirty="0"/>
              <a:t> rearranges characters.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Simple substitution is vulnerable to </a:t>
            </a:r>
            <a:r>
              <a:rPr lang="en-IN" sz="2000" b="1" dirty="0"/>
              <a:t>frequency analysis</a:t>
            </a:r>
            <a:r>
              <a:rPr lang="en-IN" sz="2000" dirty="0"/>
              <a:t>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Simple transposition preserves character frequencies.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Neither provides strong security by modern standards.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Combining substitution and transposition gives better security.</a:t>
            </a:r>
            <a:endParaRPr lang="en-IN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Modern encryption uses much more advanced mathematical techniques.</a:t>
            </a:r>
          </a:p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400" y="44578"/>
            <a:ext cx="1066800" cy="11090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68000" y="76514"/>
            <a:ext cx="1510602" cy="10770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44"/>
            <a:ext cx="12191999" cy="68436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585</Words>
  <Application>Microsoft Office PowerPoint</Application>
  <PresentationFormat>Widescreen</PresentationFormat>
  <Paragraphs>125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Arial MT</vt:lpstr>
      <vt:lpstr>Arial Narrow</vt:lpstr>
      <vt:lpstr>Times New Roman</vt:lpstr>
      <vt:lpstr>Wingdings</vt:lpstr>
      <vt:lpstr>Office Theme</vt:lpstr>
      <vt:lpstr>Department of Computer Science And Engineering</vt:lpstr>
      <vt:lpstr>INTRODUCTION</vt:lpstr>
      <vt:lpstr>PowerPoint Presentation</vt:lpstr>
      <vt:lpstr>PowerPoint Presentation</vt:lpstr>
      <vt:lpstr>PowerPoint Presentation</vt:lpstr>
      <vt:lpstr>Security of Substitution </vt:lpstr>
      <vt:lpstr>Security of Transposition </vt:lpstr>
      <vt:lpstr>      Which Provides Better Security? </vt:lpstr>
      <vt:lpstr>Why Combination is Better ? </vt:lpstr>
      <vt:lpstr>Conclusion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Pavankumar</dc:creator>
  <cp:lastModifiedBy>harshitha reddy</cp:lastModifiedBy>
  <cp:revision>4</cp:revision>
  <dcterms:created xsi:type="dcterms:W3CDTF">2026-06-09T02:43:00Z</dcterms:created>
  <dcterms:modified xsi:type="dcterms:W3CDTF">2026-10-08T04:27:28Z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2025-12-09T05:30:00Z</vt:filetime>
  </property>
  <property fmtid="{D5CDD505-2E9C-101B-9397-08002B2CF9AE}" pid="4" name="Creator">
    <vt:lpwstr>Microsoft® PowerPoint® 2024</vt:lpwstr>
  </property>
  <property fmtid="{D5CDD505-2E9C-101B-9397-08002B2CF9AE}" pid="5" name="LastSaved">
    <vt:filetime>2026-06-09T05:30:00Z</vt:filetime>
  </property>
  <property fmtid="{D5CDD505-2E9C-101B-9397-08002B2CF9AE}" pid="6" name="Producer">
    <vt:lpwstr>Microsoft® PowerPoint® 2024</vt:lpwstr>
  </property>
  <property fmtid="{D5CDD505-2E9C-101B-9397-08002B2CF9AE}" pid="7" name="KSOProductBuildVer">
    <vt:lpwstr>1033-12.1.0.28032</vt:lpwstr>
  </property>
  <property fmtid="{D5CDD505-2E9C-101B-9397-08002B2CF9AE}" pid="8" name="ICV">
    <vt:lpwstr>3EEFAAE09B4F4139935C8EEFD00FE5E0_13</vt:lpwstr>
  </property>
</Properties>
</file>